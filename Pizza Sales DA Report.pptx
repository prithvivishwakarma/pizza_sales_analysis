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y="6858000" cx="12192000"/>
  <p:notesSz cx="6858000" cy="9144000"/>
  <p:embeddedFontLst>
    <p:embeddedFont>
      <p:font typeface="Poppins"/>
      <p:regular r:id="rId15"/>
      <p:bold r:id="rId16"/>
      <p:italic r:id="rId17"/>
      <p:boldItalic r:id="rId18"/>
    </p:embeddedFont>
    <p:embeddedFont>
      <p:font typeface="Lato"/>
      <p:regular r:id="rId19"/>
      <p:bold r:id="rId20"/>
      <p:italic r:id="rId21"/>
      <p:boldItalic r:id="rId22"/>
    </p:embeddedFont>
    <p:embeddedFont>
      <p:font typeface="Poppins Medium"/>
      <p:regular r:id="rId23"/>
      <p:bold r:id="rId24"/>
      <p:italic r:id="rId25"/>
      <p:boldItalic r:id="rId26"/>
    </p:embeddedFont>
    <p:embeddedFont>
      <p:font typeface="Poppins SemiBold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C6547710-9AFB-4A12-8DC7-CB6A7E14D006}">
  <a:tblStyle styleId="{C6547710-9AFB-4A12-8DC7-CB6A7E14D006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127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fill>
          <a:solidFill>
            <a:srgbClr val="CFD7E7"/>
          </a:solidFill>
        </a:fill>
      </a:tcStyle>
    </a:band1H>
    <a:band2H>
      <a:tcTxStyle/>
    </a:band2H>
    <a:band1V>
      <a:tcTxStyle/>
      <a:tcStyle>
        <a:fill>
          <a:solidFill>
            <a:srgbClr val="CFD7E7"/>
          </a:solidFill>
        </a:fill>
      </a:tcStyle>
    </a:band1V>
    <a:band2V>
      <a:tcTxStyle/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accent1"/>
          </a:solidFill>
        </a:fill>
      </a:tcStyle>
    </a:lastRow>
    <a:seCell>
      <a:tcTxStyle/>
    </a:seCell>
    <a:swCell>
      <a:tcTxStyle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cap="flat" cmpd="sng" w="38100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a:bottom>
        </a:tcBdr>
        <a:fill>
          <a:solidFill>
            <a:schemeClr val="accent1"/>
          </a:solidFill>
        </a:fill>
      </a:tcStyle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Lato-bold.fntdata"/><Relationship Id="rId22" Type="http://schemas.openxmlformats.org/officeDocument/2006/relationships/font" Target="fonts/Lato-boldItalic.fntdata"/><Relationship Id="rId21" Type="http://schemas.openxmlformats.org/officeDocument/2006/relationships/font" Target="fonts/Lato-italic.fntdata"/><Relationship Id="rId24" Type="http://schemas.openxmlformats.org/officeDocument/2006/relationships/font" Target="fonts/PoppinsMedium-bold.fntdata"/><Relationship Id="rId23" Type="http://schemas.openxmlformats.org/officeDocument/2006/relationships/font" Target="fonts/PoppinsMedium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font" Target="fonts/PoppinsMedium-boldItalic.fntdata"/><Relationship Id="rId25" Type="http://schemas.openxmlformats.org/officeDocument/2006/relationships/font" Target="fonts/PoppinsMedium-italic.fntdata"/><Relationship Id="rId28" Type="http://schemas.openxmlformats.org/officeDocument/2006/relationships/font" Target="fonts/PoppinsSemiBold-bold.fntdata"/><Relationship Id="rId27" Type="http://schemas.openxmlformats.org/officeDocument/2006/relationships/font" Target="fonts/PoppinsSemiBold-regular.fntdata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PoppinsSemiBold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PoppinsSemiBold-bold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font" Target="fonts/Poppins-regular.fntdata"/><Relationship Id="rId14" Type="http://schemas.openxmlformats.org/officeDocument/2006/relationships/slide" Target="slides/slide8.xml"/><Relationship Id="rId17" Type="http://schemas.openxmlformats.org/officeDocument/2006/relationships/font" Target="fonts/Poppins-italic.fntdata"/><Relationship Id="rId16" Type="http://schemas.openxmlformats.org/officeDocument/2006/relationships/font" Target="fonts/Poppins-bold.fntdata"/><Relationship Id="rId19" Type="http://schemas.openxmlformats.org/officeDocument/2006/relationships/font" Target="fonts/Lato-regular.fntdata"/><Relationship Id="rId18" Type="http://schemas.openxmlformats.org/officeDocument/2006/relationships/font" Target="fonts/Poppins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3" name="Google Shape;93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4" name="Google Shape;14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2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Relationship Id="rId4" Type="http://schemas.openxmlformats.org/officeDocument/2006/relationships/image" Target="../media/image13.png"/><Relationship Id="rId5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6.png"/><Relationship Id="rId4" Type="http://schemas.openxmlformats.org/officeDocument/2006/relationships/image" Target="../media/image12.png"/><Relationship Id="rId5" Type="http://schemas.openxmlformats.org/officeDocument/2006/relationships/image" Target="../media/image15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1.png"/><Relationship Id="rId5" Type="http://schemas.openxmlformats.org/officeDocument/2006/relationships/image" Target="../media/image3.png"/><Relationship Id="rId6" Type="http://schemas.openxmlformats.org/officeDocument/2006/relationships/image" Target="../media/image5.png"/><Relationship Id="rId7" Type="http://schemas.openxmlformats.org/officeDocument/2006/relationships/image" Target="../media/image8.png"/><Relationship Id="rId8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6.png"/><Relationship Id="rId4" Type="http://schemas.openxmlformats.org/officeDocument/2006/relationships/image" Target="../media/image4.png"/><Relationship Id="rId5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6.png"/><Relationship Id="rId4" Type="http://schemas.openxmlformats.org/officeDocument/2006/relationships/image" Target="../media/image9.png"/><Relationship Id="rId5" Type="http://schemas.openxmlformats.org/officeDocument/2006/relationships/image" Target="../media/image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6.png"/><Relationship Id="rId4" Type="http://schemas.openxmlformats.org/officeDocument/2006/relationships/image" Target="../media/image10.png"/><Relationship Id="rId5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11.png"/><Relationship Id="rId6" Type="http://schemas.openxmlformats.org/officeDocument/2006/relationships/image" Target="../media/image1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Relationship Id="rId4" Type="http://schemas.openxmlformats.org/officeDocument/2006/relationships/image" Target="../media/image2.png"/><Relationship Id="rId5" Type="http://schemas.openxmlformats.org/officeDocument/2006/relationships/image" Target="../media/image7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84" name="Google Shape;84;p13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5" name="Google Shape;85;p1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452937" y="2177950"/>
            <a:ext cx="3286125" cy="31432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86" name="Google Shape;86;p13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436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87" name="Google Shape;87;p13"/>
          <p:cNvSpPr txBox="1"/>
          <p:nvPr/>
        </p:nvSpPr>
        <p:spPr>
          <a:xfrm>
            <a:off x="762000" y="6096000"/>
            <a:ext cx="1704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PIZZA PERFORMANCE DA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10610850" y="6096000"/>
            <a:ext cx="8191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SLIDE 1 OF 8</a:t>
            </a:r>
            <a:endParaRPr/>
          </a:p>
        </p:txBody>
      </p:sp>
      <p:sp>
        <p:nvSpPr>
          <p:cNvPr id="89" name="Google Shape;89;p13"/>
          <p:cNvSpPr txBox="1"/>
          <p:nvPr/>
        </p:nvSpPr>
        <p:spPr>
          <a:xfrm>
            <a:off x="1570434" y="2730400"/>
            <a:ext cx="9051131" cy="65424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4988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4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Pizza Sales </a:t>
            </a:r>
            <a:r>
              <a:rPr b="1" i="0" lang="en-US" sz="43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Data Analysis</a:t>
            </a:r>
            <a:r>
              <a:rPr b="1" i="0" lang="en-US" sz="43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 Report</a:t>
            </a:r>
            <a:endParaRPr/>
          </a:p>
        </p:txBody>
      </p:sp>
      <p:sp>
        <p:nvSpPr>
          <p:cNvPr id="90" name="Google Shape;90;p13"/>
          <p:cNvSpPr txBox="1"/>
          <p:nvPr/>
        </p:nvSpPr>
        <p:spPr>
          <a:xfrm>
            <a:off x="2285988" y="4375524"/>
            <a:ext cx="7620000" cy="57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5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 comprehensive SQL-driven performance overview capturing operational KPIs, product metrics, and key inventory insights for business growth.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95" name="Google Shape;95;p1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6" name="Google Shape;96;p1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71500" y="5991225"/>
            <a:ext cx="5286375" cy="2952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97" name="Google Shape;97;p1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334125" y="0"/>
            <a:ext cx="5857875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14"/>
          <p:cNvSpPr txBox="1"/>
          <p:nvPr/>
        </p:nvSpPr>
        <p:spPr>
          <a:xfrm>
            <a:off x="571500" y="571500"/>
            <a:ext cx="5550693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Analyzing </a:t>
            </a: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pizza_sales.xlsx</a:t>
            </a:r>
            <a:endParaRPr/>
          </a:p>
        </p:txBody>
      </p:sp>
      <p:sp>
        <p:nvSpPr>
          <p:cNvPr id="99" name="Google Shape;99;p14"/>
          <p:cNvSpPr txBox="1"/>
          <p:nvPr/>
        </p:nvSpPr>
        <p:spPr>
          <a:xfrm>
            <a:off x="571500" y="6096000"/>
            <a:ext cx="13239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PROJECT BASELINE</a:t>
            </a:r>
            <a:endParaRPr/>
          </a:p>
        </p:txBody>
      </p:sp>
      <p:sp>
        <p:nvSpPr>
          <p:cNvPr id="100" name="Google Shape;100;p14"/>
          <p:cNvSpPr txBox="1"/>
          <p:nvPr/>
        </p:nvSpPr>
        <p:spPr>
          <a:xfrm>
            <a:off x="5010150" y="6096000"/>
            <a:ext cx="847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SLIDE 2 OF 8</a:t>
            </a:r>
            <a:endParaRPr/>
          </a:p>
        </p:txBody>
      </p:sp>
      <p:sp>
        <p:nvSpPr>
          <p:cNvPr id="101" name="Google Shape;101;p14"/>
          <p:cNvSpPr txBox="1"/>
          <p:nvPr/>
        </p:nvSpPr>
        <p:spPr>
          <a:xfrm>
            <a:off x="571500" y="1304925"/>
            <a:ext cx="5286375" cy="103584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This analytics deck leverages the robust database provided in the verbatim </a:t>
            </a:r>
            <a:r>
              <a:rPr b="1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"pizza_sales.xlsx"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source file. SQL queries were executed to pull transaction-level insights across 21,350 unique orders and 49,574 individual items sold.</a:t>
            </a:r>
            <a:endParaRPr/>
          </a:p>
        </p:txBody>
      </p:sp>
      <p:sp>
        <p:nvSpPr>
          <p:cNvPr id="102" name="Google Shape;102;p14"/>
          <p:cNvSpPr txBox="1"/>
          <p:nvPr/>
        </p:nvSpPr>
        <p:spPr>
          <a:xfrm>
            <a:off x="571500" y="2569368"/>
            <a:ext cx="5286375" cy="776882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5992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We target operational excellence by investigating sales distribution across categories, size variations, peak ordering times, and distinct item-level revenue champions and underperformers.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07" name="Google Shape;107;p1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8" name="Google Shape;108;p1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2720280"/>
            <a:ext cx="1981200" cy="1617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09" name="Google Shape;109;p1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933700" y="2720280"/>
            <a:ext cx="1981200" cy="1617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0" name="Google Shape;110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5105400" y="2720280"/>
            <a:ext cx="1981200" cy="1617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1" name="Google Shape;111;p15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7277100" y="2720280"/>
            <a:ext cx="1981200" cy="1617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2" name="Google Shape;112;p15"/>
          <p:cNvPicPr preferRelativeResize="0"/>
          <p:nvPr/>
        </p:nvPicPr>
        <p:blipFill rotWithShape="1">
          <a:blip r:embed="rId7">
            <a:alphaModFix/>
          </a:blip>
          <a:srcRect b="0" l="0" r="0" t="0"/>
          <a:stretch/>
        </p:blipFill>
        <p:spPr>
          <a:xfrm>
            <a:off x="9448800" y="2720280"/>
            <a:ext cx="1981200" cy="161731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13" name="Google Shape;113;p15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762000" y="59436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15"/>
          <p:cNvSpPr txBox="1"/>
          <p:nvPr/>
        </p:nvSpPr>
        <p:spPr>
          <a:xfrm>
            <a:off x="762000" y="6096000"/>
            <a:ext cx="26193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HIGH-LEVEL PERFORMANCE SUMMARY</a:t>
            </a:r>
            <a:endParaRPr/>
          </a:p>
        </p:txBody>
      </p:sp>
      <p:sp>
        <p:nvSpPr>
          <p:cNvPr id="115" name="Google Shape;115;p15"/>
          <p:cNvSpPr txBox="1"/>
          <p:nvPr/>
        </p:nvSpPr>
        <p:spPr>
          <a:xfrm>
            <a:off x="10582275" y="6096000"/>
            <a:ext cx="847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SLIDE 3 OF 8</a:t>
            </a:r>
            <a:endParaRPr/>
          </a:p>
        </p:txBody>
      </p:sp>
      <p:sp>
        <p:nvSpPr>
          <p:cNvPr id="116" name="Google Shape;116;p15"/>
          <p:cNvSpPr txBox="1"/>
          <p:nvPr/>
        </p:nvSpPr>
        <p:spPr>
          <a:xfrm>
            <a:off x="962025" y="3015555"/>
            <a:ext cx="1581150" cy="33516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$817,860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62025" y="3445966"/>
            <a:ext cx="1581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TOTAL REVENUE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962025" y="3693616"/>
            <a:ext cx="1581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Consolidated sales across all pizza categories.</a:t>
            </a:r>
            <a:endParaRPr/>
          </a:p>
        </p:txBody>
      </p:sp>
      <p:sp>
        <p:nvSpPr>
          <p:cNvPr id="119" name="Google Shape;119;p15"/>
          <p:cNvSpPr txBox="1"/>
          <p:nvPr/>
        </p:nvSpPr>
        <p:spPr>
          <a:xfrm>
            <a:off x="3133725" y="3015555"/>
            <a:ext cx="158115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$38.31</a:t>
            </a:r>
            <a:endParaRPr/>
          </a:p>
        </p:txBody>
      </p:sp>
      <p:sp>
        <p:nvSpPr>
          <p:cNvPr id="120" name="Google Shape;120;p15"/>
          <p:cNvSpPr txBox="1"/>
          <p:nvPr/>
        </p:nvSpPr>
        <p:spPr>
          <a:xfrm>
            <a:off x="3133725" y="3508920"/>
            <a:ext cx="1581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AVG ORDER VALUE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3133725" y="3756570"/>
            <a:ext cx="1581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Calculated directly from distinctive order totals.</a:t>
            </a:r>
            <a:endParaRPr/>
          </a:p>
        </p:txBody>
      </p:sp>
      <p:sp>
        <p:nvSpPr>
          <p:cNvPr id="122" name="Google Shape;122;p15"/>
          <p:cNvSpPr txBox="1"/>
          <p:nvPr/>
        </p:nvSpPr>
        <p:spPr>
          <a:xfrm>
            <a:off x="5305425" y="3015555"/>
            <a:ext cx="158115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49,574</a:t>
            </a:r>
            <a:endParaRPr/>
          </a:p>
        </p:txBody>
      </p:sp>
      <p:sp>
        <p:nvSpPr>
          <p:cNvPr id="123" name="Google Shape;123;p15"/>
          <p:cNvSpPr txBox="1"/>
          <p:nvPr/>
        </p:nvSpPr>
        <p:spPr>
          <a:xfrm>
            <a:off x="5305425" y="3508920"/>
            <a:ext cx="1581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PIZZAS SOLD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5305425" y="3756570"/>
            <a:ext cx="1581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Total cumulative volume of pizzas ordered.</a:t>
            </a:r>
            <a:endParaRPr/>
          </a:p>
        </p:txBody>
      </p:sp>
      <p:sp>
        <p:nvSpPr>
          <p:cNvPr id="125" name="Google Shape;125;p15"/>
          <p:cNvSpPr txBox="1"/>
          <p:nvPr/>
        </p:nvSpPr>
        <p:spPr>
          <a:xfrm>
            <a:off x="7477125" y="3015555"/>
            <a:ext cx="158115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21,350</a:t>
            </a:r>
            <a:endParaRPr/>
          </a:p>
        </p:txBody>
      </p:sp>
      <p:sp>
        <p:nvSpPr>
          <p:cNvPr id="126" name="Google Shape;126;p15"/>
          <p:cNvSpPr txBox="1"/>
          <p:nvPr/>
        </p:nvSpPr>
        <p:spPr>
          <a:xfrm>
            <a:off x="7477125" y="3508920"/>
            <a:ext cx="1581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TOTAL ORDERS</a:t>
            </a:r>
            <a:endParaRPr/>
          </a:p>
        </p:txBody>
      </p:sp>
      <p:sp>
        <p:nvSpPr>
          <p:cNvPr id="127" name="Google Shape;127;p15"/>
          <p:cNvSpPr txBox="1"/>
          <p:nvPr/>
        </p:nvSpPr>
        <p:spPr>
          <a:xfrm>
            <a:off x="7477125" y="3756570"/>
            <a:ext cx="1581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Distinct invoices logged in the database.</a:t>
            </a:r>
            <a:endParaRPr/>
          </a:p>
        </p:txBody>
      </p:sp>
      <p:sp>
        <p:nvSpPr>
          <p:cNvPr id="128" name="Google Shape;128;p15"/>
          <p:cNvSpPr txBox="1"/>
          <p:nvPr/>
        </p:nvSpPr>
        <p:spPr>
          <a:xfrm>
            <a:off x="9648825" y="3015555"/>
            <a:ext cx="1581150" cy="39811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2.32</a:t>
            </a:r>
            <a:endParaRPr/>
          </a:p>
        </p:txBody>
      </p:sp>
      <p:sp>
        <p:nvSpPr>
          <p:cNvPr id="129" name="Google Shape;129;p15"/>
          <p:cNvSpPr txBox="1"/>
          <p:nvPr/>
        </p:nvSpPr>
        <p:spPr>
          <a:xfrm>
            <a:off x="9648825" y="3508920"/>
            <a:ext cx="1581150" cy="2000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1050" u="none" cap="none" strike="noStrike">
                <a:solidFill>
                  <a:srgbClr val="334155"/>
                </a:solidFill>
                <a:latin typeface="Poppins SemiBold"/>
                <a:ea typeface="Poppins SemiBold"/>
                <a:cs typeface="Poppins SemiBold"/>
                <a:sym typeface="Poppins SemiBold"/>
              </a:rPr>
              <a:t>AVG PIZZAS / ORD</a:t>
            </a:r>
            <a:endParaRPr/>
          </a:p>
        </p:txBody>
      </p:sp>
      <p:sp>
        <p:nvSpPr>
          <p:cNvPr id="130" name="Google Shape;130;p15"/>
          <p:cNvSpPr txBox="1"/>
          <p:nvPr/>
        </p:nvSpPr>
        <p:spPr>
          <a:xfrm>
            <a:off x="9648825" y="3756570"/>
            <a:ext cx="1581150" cy="285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00" u="none" cap="none" strike="noStrike">
                <a:solidFill>
                  <a:srgbClr val="64748B"/>
                </a:solidFill>
                <a:latin typeface="Lato"/>
                <a:ea typeface="Lato"/>
                <a:cs typeface="Lato"/>
                <a:sym typeface="Lato"/>
              </a:rPr>
              <a:t>Average quantity purchased per distinct checkout.</a:t>
            </a:r>
            <a:endParaRPr/>
          </a:p>
        </p:txBody>
      </p:sp>
      <p:sp>
        <p:nvSpPr>
          <p:cNvPr id="131" name="Google Shape;131;p15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Performance </a:t>
            </a: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Indicators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36" name="Google Shape;136;p16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7" name="Google Shape;137;p16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10668000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38" name="Google Shape;138;p16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436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16"/>
          <p:cNvSpPr txBox="1"/>
          <p:nvPr/>
        </p:nvSpPr>
        <p:spPr>
          <a:xfrm>
            <a:off x="762000" y="6096000"/>
            <a:ext cx="2190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CATEGORICAL SHARE ANALYSIS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10572750" y="6096000"/>
            <a:ext cx="8572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SLIDE 4 OF 8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Sales Proportion by </a:t>
            </a: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Category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46" name="Google Shape;146;p1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7" name="Google Shape;147;p17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10668000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48" name="Google Shape;148;p1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436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17"/>
          <p:cNvSpPr txBox="1"/>
          <p:nvPr/>
        </p:nvSpPr>
        <p:spPr>
          <a:xfrm>
            <a:off x="762000" y="6096000"/>
            <a:ext cx="219075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DIMENSIONAL VOLUME &amp; VALUE</a:t>
            </a:r>
            <a:endParaRPr/>
          </a:p>
        </p:txBody>
      </p:sp>
      <p:sp>
        <p:nvSpPr>
          <p:cNvPr id="150" name="Google Shape;150;p17"/>
          <p:cNvSpPr txBox="1"/>
          <p:nvPr/>
        </p:nvSpPr>
        <p:spPr>
          <a:xfrm>
            <a:off x="10582275" y="6096000"/>
            <a:ext cx="847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SLIDE 5 OF 8</a:t>
            </a:r>
            <a:endParaRPr/>
          </a:p>
        </p:txBody>
      </p:sp>
      <p:sp>
        <p:nvSpPr>
          <p:cNvPr id="151" name="Google Shape;151;p17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Sales Proportion by </a:t>
            </a: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Size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56" name="Google Shape;156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7" name="Google Shape;157;p18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1304925"/>
            <a:ext cx="10668000" cy="44481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58" name="Google Shape;158;p18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59436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59" name="Google Shape;159;p18"/>
          <p:cNvSpPr txBox="1"/>
          <p:nvPr/>
        </p:nvSpPr>
        <p:spPr>
          <a:xfrm>
            <a:off x="762000" y="6096000"/>
            <a:ext cx="16478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WEEKLY PEAK PATTERNS</a:t>
            </a:r>
            <a:endParaRPr/>
          </a:p>
        </p:txBody>
      </p:sp>
      <p:sp>
        <p:nvSpPr>
          <p:cNvPr id="160" name="Google Shape;160;p18"/>
          <p:cNvSpPr txBox="1"/>
          <p:nvPr/>
        </p:nvSpPr>
        <p:spPr>
          <a:xfrm>
            <a:off x="10582275" y="6096000"/>
            <a:ext cx="847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SLIDE 6 OF 8</a:t>
            </a:r>
            <a:endParaRPr/>
          </a:p>
        </p:txBody>
      </p:sp>
      <p:sp>
        <p:nvSpPr>
          <p:cNvPr id="161" name="Google Shape;161;p18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Weekly Order </a:t>
            </a: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Distribution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166" name="Google Shape;166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167" name="Google Shape;167;p19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436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168" name="Google Shape;168;p19"/>
          <p:cNvSpPr txBox="1"/>
          <p:nvPr/>
        </p:nvSpPr>
        <p:spPr>
          <a:xfrm>
            <a:off x="762000" y="6096000"/>
            <a:ext cx="292417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STRATEGIC INVENTORY &amp; MENU INSIGHTS</a:t>
            </a:r>
            <a:endParaRPr/>
          </a:p>
        </p:txBody>
      </p:sp>
      <p:sp>
        <p:nvSpPr>
          <p:cNvPr id="169" name="Google Shape;169;p19"/>
          <p:cNvSpPr txBox="1"/>
          <p:nvPr/>
        </p:nvSpPr>
        <p:spPr>
          <a:xfrm>
            <a:off x="10582275" y="6096000"/>
            <a:ext cx="847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SLIDE 7 OF 8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047750" y="2085975"/>
            <a:ext cx="4905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10B981"/>
                </a:solidFill>
                <a:latin typeface="Lato"/>
                <a:ea typeface="Lato"/>
                <a:cs typeface="Lato"/>
                <a:sym typeface="Lato"/>
              </a:rPr>
              <a:t>Top 5 Revenue Generators</a:t>
            </a:r>
            <a:endParaRPr/>
          </a:p>
        </p:txBody>
      </p:sp>
      <p:sp>
        <p:nvSpPr>
          <p:cNvPr id="171" name="Google Shape;171;p19"/>
          <p:cNvSpPr/>
          <p:nvPr/>
        </p:nvSpPr>
        <p:spPr>
          <a:xfrm>
            <a:off x="762000" y="2371725"/>
            <a:ext cx="51911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9"/>
          <p:cNvSpPr/>
          <p:nvPr/>
        </p:nvSpPr>
        <p:spPr>
          <a:xfrm>
            <a:off x="762000" y="2533650"/>
            <a:ext cx="5191125" cy="24384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3" name="Google Shape;173;p19"/>
          <p:cNvGraphicFramePr/>
          <p:nvPr/>
        </p:nvGraphicFramePr>
        <p:xfrm>
          <a:off x="762000" y="2533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{C6547710-9AFB-4A12-8DC7-CB6A7E14D006}</a:tableStyleId>
              </a:tblPr>
              <a:tblGrid>
                <a:gridCol w="3455350"/>
                <a:gridCol w="1735775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Pizza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Thai Chicken Pizza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$43,434.25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Barbecue Chicken Pizza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$42,768.00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California Chicken Pizza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$41,409.50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Classic Deluxe Pizza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$38,180.50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Spicy Italian Pizza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$34,831.25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74" name="Google Shape;174;p19"/>
          <p:cNvSpPr txBox="1"/>
          <p:nvPr/>
        </p:nvSpPr>
        <p:spPr>
          <a:xfrm>
            <a:off x="6524625" y="2085975"/>
            <a:ext cx="4905375" cy="228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350" u="none" cap="none" strike="noStrike">
                <a:solidFill>
                  <a:srgbClr val="EF4444"/>
                </a:solidFill>
                <a:latin typeface="Lato"/>
                <a:ea typeface="Lato"/>
                <a:cs typeface="Lato"/>
                <a:sym typeface="Lato"/>
              </a:rPr>
              <a:t>Bottom 5 Revenue Generators</a:t>
            </a:r>
            <a:endParaRPr/>
          </a:p>
        </p:txBody>
      </p:sp>
      <p:sp>
        <p:nvSpPr>
          <p:cNvPr id="175" name="Google Shape;175;p19"/>
          <p:cNvSpPr/>
          <p:nvPr/>
        </p:nvSpPr>
        <p:spPr>
          <a:xfrm>
            <a:off x="6238875" y="2371725"/>
            <a:ext cx="519112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19"/>
          <p:cNvSpPr/>
          <p:nvPr/>
        </p:nvSpPr>
        <p:spPr>
          <a:xfrm>
            <a:off x="6238875" y="2533650"/>
            <a:ext cx="5191125" cy="2438400"/>
          </a:xfrm>
          <a:prstGeom prst="roundRect">
            <a:avLst>
              <a:gd fmla="val 0" name="adj"/>
            </a:avLst>
          </a:prstGeom>
          <a:solidFill>
            <a:srgbClr val="FFFFFF"/>
          </a:solidFill>
          <a:ln cap="flat" cmpd="sng" w="9525">
            <a:solidFill>
              <a:srgbClr val="4A7DBA"/>
            </a:solidFill>
            <a:prstDash val="solid"/>
            <a:round/>
            <a:headEnd len="sm" w="sm" type="none"/>
            <a:tailEnd len="sm" w="sm" type="none"/>
          </a:ln>
          <a:effectLst>
            <a:outerShdw blurRad="40000" rotWithShape="0" dir="5400000" dist="23000">
              <a:srgbClr val="000000">
                <a:alpha val="34901"/>
              </a:srgbClr>
            </a:outerShdw>
          </a:effectLst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77" name="Google Shape;177;p19"/>
          <p:cNvGraphicFramePr/>
          <p:nvPr/>
        </p:nvGraphicFramePr>
        <p:xfrm>
          <a:off x="6238875" y="2533650"/>
          <a:ext cx="3000000" cy="3000000"/>
        </p:xfrm>
        <a:graphic>
          <a:graphicData uri="http://schemas.openxmlformats.org/drawingml/2006/table">
            <a:tbl>
              <a:tblPr bandRow="1" firstRow="1">
                <a:noFill/>
                <a:tableStyleId>{C6547710-9AFB-4A12-8DC7-CB6A7E14D006}</a:tableStyleId>
              </a:tblPr>
              <a:tblGrid>
                <a:gridCol w="3406675"/>
                <a:gridCol w="1784450"/>
              </a:tblGrid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Pizza Name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900" u="none" cap="none" strike="noStrike">
                          <a:solidFill>
                            <a:srgbClr val="0F172A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Revenue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  <a:solidFill>
                      <a:srgbClr val="F1F5F9"/>
                    </a:solidFill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Brie Carre Pizza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$11,588.50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Green Garden Pizza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$13,955.75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Spinach Supreme Pizza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$15,277.75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Mediterranean Pizza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$15,360.50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400"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0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The Spinach Pesto Pizza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i="0" lang="en-US" sz="1125" u="none" cap="none" strike="noStrike">
                          <a:solidFill>
                            <a:srgbClr val="475569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$15,596.00</a:t>
                      </a:r>
                      <a:endParaRPr/>
                    </a:p>
                  </a:txBody>
                  <a:tcPr marT="25400" marB="25400" marR="63500" marL="63500" anchor="ctr">
                    <a:lnL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descr="image.png" id="178" name="Google Shape;178;p19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762000" y="2105025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79" name="Google Shape;179;p19"/>
          <p:cNvSpPr/>
          <p:nvPr/>
        </p:nvSpPr>
        <p:spPr>
          <a:xfrm>
            <a:off x="762000" y="2895600"/>
            <a:ext cx="345534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19"/>
          <p:cNvSpPr/>
          <p:nvPr/>
        </p:nvSpPr>
        <p:spPr>
          <a:xfrm>
            <a:off x="4217342" y="2895600"/>
            <a:ext cx="1735782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descr="image.png" id="181" name="Google Shape;181;p19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238875" y="2105025"/>
            <a:ext cx="190500" cy="171450"/>
          </a:xfrm>
          <a:prstGeom prst="rect">
            <a:avLst/>
          </a:prstGeom>
          <a:noFill/>
          <a:ln>
            <a:noFill/>
          </a:ln>
        </p:spPr>
      </p:pic>
      <p:sp>
        <p:nvSpPr>
          <p:cNvPr id="182" name="Google Shape;182;p19"/>
          <p:cNvSpPr/>
          <p:nvPr/>
        </p:nvSpPr>
        <p:spPr>
          <a:xfrm>
            <a:off x="6238875" y="2895600"/>
            <a:ext cx="3406675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19"/>
          <p:cNvSpPr/>
          <p:nvPr/>
        </p:nvSpPr>
        <p:spPr>
          <a:xfrm>
            <a:off x="9645550" y="2895600"/>
            <a:ext cx="1784449" cy="19050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19"/>
          <p:cNvSpPr/>
          <p:nvPr/>
        </p:nvSpPr>
        <p:spPr>
          <a:xfrm>
            <a:off x="762000" y="3319462"/>
            <a:ext cx="3455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19"/>
          <p:cNvSpPr/>
          <p:nvPr/>
        </p:nvSpPr>
        <p:spPr>
          <a:xfrm>
            <a:off x="4217342" y="3319462"/>
            <a:ext cx="17357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19"/>
          <p:cNvSpPr/>
          <p:nvPr/>
        </p:nvSpPr>
        <p:spPr>
          <a:xfrm>
            <a:off x="762000" y="3729037"/>
            <a:ext cx="3455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19"/>
          <p:cNvSpPr/>
          <p:nvPr/>
        </p:nvSpPr>
        <p:spPr>
          <a:xfrm>
            <a:off x="4217342" y="3729037"/>
            <a:ext cx="17357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19"/>
          <p:cNvSpPr/>
          <p:nvPr/>
        </p:nvSpPr>
        <p:spPr>
          <a:xfrm>
            <a:off x="762000" y="4138612"/>
            <a:ext cx="3455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19"/>
          <p:cNvSpPr/>
          <p:nvPr/>
        </p:nvSpPr>
        <p:spPr>
          <a:xfrm>
            <a:off x="4217342" y="4138612"/>
            <a:ext cx="17357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19"/>
          <p:cNvSpPr/>
          <p:nvPr/>
        </p:nvSpPr>
        <p:spPr>
          <a:xfrm>
            <a:off x="762000" y="4548187"/>
            <a:ext cx="3455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19"/>
          <p:cNvSpPr/>
          <p:nvPr/>
        </p:nvSpPr>
        <p:spPr>
          <a:xfrm>
            <a:off x="4217342" y="4548187"/>
            <a:ext cx="17357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2" name="Google Shape;192;p19"/>
          <p:cNvSpPr/>
          <p:nvPr/>
        </p:nvSpPr>
        <p:spPr>
          <a:xfrm>
            <a:off x="762000" y="4957762"/>
            <a:ext cx="345534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19"/>
          <p:cNvSpPr/>
          <p:nvPr/>
        </p:nvSpPr>
        <p:spPr>
          <a:xfrm>
            <a:off x="4217342" y="4957762"/>
            <a:ext cx="1735782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4" name="Google Shape;194;p19"/>
          <p:cNvSpPr/>
          <p:nvPr/>
        </p:nvSpPr>
        <p:spPr>
          <a:xfrm>
            <a:off x="6238875" y="3319462"/>
            <a:ext cx="340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5" name="Google Shape;195;p19"/>
          <p:cNvSpPr/>
          <p:nvPr/>
        </p:nvSpPr>
        <p:spPr>
          <a:xfrm>
            <a:off x="9645550" y="3319462"/>
            <a:ext cx="17844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19"/>
          <p:cNvSpPr/>
          <p:nvPr/>
        </p:nvSpPr>
        <p:spPr>
          <a:xfrm>
            <a:off x="6238875" y="3729037"/>
            <a:ext cx="340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19"/>
          <p:cNvSpPr/>
          <p:nvPr/>
        </p:nvSpPr>
        <p:spPr>
          <a:xfrm>
            <a:off x="9645550" y="3729037"/>
            <a:ext cx="17844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19"/>
          <p:cNvSpPr/>
          <p:nvPr/>
        </p:nvSpPr>
        <p:spPr>
          <a:xfrm>
            <a:off x="6238875" y="4138612"/>
            <a:ext cx="340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9" name="Google Shape;199;p19"/>
          <p:cNvSpPr/>
          <p:nvPr/>
        </p:nvSpPr>
        <p:spPr>
          <a:xfrm>
            <a:off x="9645550" y="4138612"/>
            <a:ext cx="17844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9"/>
          <p:cNvSpPr/>
          <p:nvPr/>
        </p:nvSpPr>
        <p:spPr>
          <a:xfrm>
            <a:off x="6238875" y="4548187"/>
            <a:ext cx="340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1" name="Google Shape;201;p19"/>
          <p:cNvSpPr/>
          <p:nvPr/>
        </p:nvSpPr>
        <p:spPr>
          <a:xfrm>
            <a:off x="9645550" y="4548187"/>
            <a:ext cx="17844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19"/>
          <p:cNvSpPr/>
          <p:nvPr/>
        </p:nvSpPr>
        <p:spPr>
          <a:xfrm>
            <a:off x="6238875" y="4957762"/>
            <a:ext cx="3406675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19"/>
          <p:cNvSpPr/>
          <p:nvPr/>
        </p:nvSpPr>
        <p:spPr>
          <a:xfrm>
            <a:off x="9645550" y="4957762"/>
            <a:ext cx="1784449" cy="9525"/>
          </a:xfrm>
          <a:prstGeom prst="rect">
            <a:avLst/>
          </a:prstGeom>
          <a:solidFill>
            <a:srgbClr val="E2E8F0"/>
          </a:solidFill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19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Product Performance </a:t>
            </a: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Revenue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AF7F2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image.png" id="209" name="Google Shape;209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0" name="Google Shape;210;p20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762000" y="5943600"/>
            <a:ext cx="10668000" cy="342900"/>
          </a:xfrm>
          <a:prstGeom prst="rect">
            <a:avLst/>
          </a:prstGeom>
          <a:noFill/>
          <a:ln>
            <a:noFill/>
          </a:ln>
        </p:spPr>
      </p:pic>
      <p:sp>
        <p:nvSpPr>
          <p:cNvPr id="211" name="Google Shape;211;p20"/>
          <p:cNvSpPr txBox="1"/>
          <p:nvPr/>
        </p:nvSpPr>
        <p:spPr>
          <a:xfrm>
            <a:off x="762000" y="6096000"/>
            <a:ext cx="1562100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STRATEGIC ROAD MAP</a:t>
            </a:r>
            <a:endParaRPr/>
          </a:p>
        </p:txBody>
      </p:sp>
      <p:sp>
        <p:nvSpPr>
          <p:cNvPr id="212" name="Google Shape;212;p20"/>
          <p:cNvSpPr txBox="1"/>
          <p:nvPr/>
        </p:nvSpPr>
        <p:spPr>
          <a:xfrm>
            <a:off x="10582275" y="6096000"/>
            <a:ext cx="847725" cy="19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975" u="none" cap="none" strike="noStrike">
                <a:solidFill>
                  <a:srgbClr val="94A3B8"/>
                </a:solidFill>
                <a:latin typeface="Poppins Medium"/>
                <a:ea typeface="Poppins Medium"/>
                <a:cs typeface="Poppins Medium"/>
                <a:sym typeface="Poppins Medium"/>
              </a:rPr>
              <a:t>SLIDE 8 OF 8</a:t>
            </a:r>
            <a:endParaRPr/>
          </a:p>
        </p:txBody>
      </p:sp>
      <p:sp>
        <p:nvSpPr>
          <p:cNvPr id="213" name="Google Shape;213;p20"/>
          <p:cNvSpPr txBox="1"/>
          <p:nvPr/>
        </p:nvSpPr>
        <p:spPr>
          <a:xfrm>
            <a:off x="1190625" y="2628900"/>
            <a:ext cx="10239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Friday Operational Optimization: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Peak volume occurs consistently on Fridays (3,538 orders). Ensure kitchen staffing is maximized during peak Friday evening hours.</a:t>
            </a:r>
            <a:endParaRPr/>
          </a:p>
        </p:txBody>
      </p:sp>
      <p:sp>
        <p:nvSpPr>
          <p:cNvPr id="214" name="Google Shape;214;p20"/>
          <p:cNvSpPr txBox="1"/>
          <p:nvPr/>
        </p:nvSpPr>
        <p:spPr>
          <a:xfrm>
            <a:off x="1190625" y="3286125"/>
            <a:ext cx="10239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Gourmet Size Marketing: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Since Large (L) pizzas generate </a:t>
            </a:r>
            <a:r>
              <a:rPr b="1" i="0" lang="en-US" sz="127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45.89%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of sales, run upselling campaigns promoting upgrade bundle options on Medium (M) sized orders.</a:t>
            </a:r>
            <a:endParaRPr/>
          </a:p>
        </p:txBody>
      </p:sp>
      <p:sp>
        <p:nvSpPr>
          <p:cNvPr id="215" name="Google Shape;215;p20"/>
          <p:cNvSpPr txBox="1"/>
          <p:nvPr/>
        </p:nvSpPr>
        <p:spPr>
          <a:xfrm>
            <a:off x="1190625" y="3943350"/>
            <a:ext cx="10239375" cy="48577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275" u="none" cap="none" strike="noStrike">
                <a:solidFill>
                  <a:srgbClr val="0F172A"/>
                </a:solidFill>
                <a:latin typeface="Lato"/>
                <a:ea typeface="Lato"/>
                <a:cs typeface="Lato"/>
                <a:sym typeface="Lato"/>
              </a:rPr>
              <a:t>Underperformer Adjustments:</a:t>
            </a:r>
            <a:r>
              <a:rPr b="0" i="0" lang="en-US" sz="1275" u="none" cap="none" strike="noStrike">
                <a:solidFill>
                  <a:srgbClr val="475569"/>
                </a:solidFill>
                <a:latin typeface="Lato"/>
                <a:ea typeface="Lato"/>
                <a:cs typeface="Lato"/>
                <a:sym typeface="Lato"/>
              </a:rPr>
              <a:t> Address low revenue for pizzas like *The Brie Carre Pizza* ($11,588.50) through targeted test promotions or recipe optimization to prevent wasted inventory.</a:t>
            </a:r>
            <a:endParaRPr/>
          </a:p>
        </p:txBody>
      </p:sp>
      <p:pic>
        <p:nvPicPr>
          <p:cNvPr descr="image.png" id="216" name="Google Shape;216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2652712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7" name="Google Shape;217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3309937"/>
            <a:ext cx="209550" cy="219075"/>
          </a:xfrm>
          <a:prstGeom prst="rect">
            <a:avLst/>
          </a:prstGeom>
          <a:noFill/>
          <a:ln>
            <a:noFill/>
          </a:ln>
        </p:spPr>
      </p:pic>
      <p:pic>
        <p:nvPicPr>
          <p:cNvPr descr="image.png" id="218" name="Google Shape;218;p20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09625" y="3967162"/>
            <a:ext cx="209550" cy="219075"/>
          </a:xfrm>
          <a:prstGeom prst="rect">
            <a:avLst/>
          </a:prstGeom>
          <a:noFill/>
          <a:ln>
            <a:noFill/>
          </a:ln>
        </p:spPr>
      </p:pic>
      <p:sp>
        <p:nvSpPr>
          <p:cNvPr id="219" name="Google Shape;219;p20"/>
          <p:cNvSpPr txBox="1"/>
          <p:nvPr/>
        </p:nvSpPr>
        <p:spPr>
          <a:xfrm>
            <a:off x="762000" y="571500"/>
            <a:ext cx="11201400" cy="542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50" u="none" cap="none" strike="noStrike">
                <a:solidFill>
                  <a:srgbClr val="0F172A"/>
                </a:solidFill>
                <a:latin typeface="Poppins"/>
                <a:ea typeface="Poppins"/>
                <a:cs typeface="Poppins"/>
                <a:sym typeface="Poppins"/>
              </a:rPr>
              <a:t>Key Strategic </a:t>
            </a:r>
            <a:r>
              <a:rPr b="1" i="0" lang="en-US" sz="2850" u="none" cap="none" strike="noStrike">
                <a:solidFill>
                  <a:srgbClr val="EA580C"/>
                </a:solidFill>
                <a:latin typeface="Poppins"/>
                <a:ea typeface="Poppins"/>
                <a:cs typeface="Poppins"/>
                <a:sym typeface="Poppins"/>
              </a:rPr>
              <a:t>Recommendations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